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1" r:id="rId12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 rot="19500000">
            <a:off x="9326880" y="1005840"/>
            <a:ext cx="1645920" cy="777240"/>
          </a:xfrm>
          <a:prstGeom prst="ellipse">
            <a:avLst/>
          </a:prstGeom>
          <a:solidFill>
            <a:srgbClr val="49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 rot="1500000">
            <a:off x="10149840" y="1828800"/>
            <a:ext cx="1371600" cy="640080"/>
          </a:xfrm>
          <a:prstGeom prst="ellipse">
            <a:avLst/>
          </a:prstGeom>
          <a:solidFill>
            <a:srgbClr val="699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20400000">
            <a:off x="8961120" y="2377440"/>
            <a:ext cx="1417320" cy="658368"/>
          </a:xfrm>
          <a:prstGeom prst="ellipse">
            <a:avLst/>
          </a:prstGeom>
          <a:solidFill>
            <a:srgbClr val="9BB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2100000">
            <a:off x="10287000" y="2880360"/>
            <a:ext cx="1188720" cy="594360"/>
          </a:xfrm>
          <a:prstGeom prst="ellipse">
            <a:avLst/>
          </a:prstGeom>
          <a:solidFill>
            <a:srgbClr val="49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72237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E0BF63"/>
                </a:solidFill>
                <a:latin typeface="Aptos"/>
              </a:rPr>
              <a:t>MY AI &amp; DATA SCIENCE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86384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Plant Disease
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7040880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E2ECE0"/>
                </a:solidFill>
                <a:latin typeface="Aptos"/>
              </a:rPr>
              <a:t>Using a CNN to classify pictures of plant leaves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800600"/>
            <a:ext cx="914400" cy="64008"/>
          </a:xfrm>
          <a:prstGeom prst="rect">
            <a:avLst/>
          </a:prstGeom>
          <a:solidFill>
            <a:srgbClr val="E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20640"/>
            <a:ext cx="68580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7DA"/>
                </a:solidFill>
                <a:latin typeface="Aptos"/>
              </a:rPr>
              <a:t>Presented by: Farina Hamid  |  Saylani Mass IT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CDDDCC"/>
                </a:solidFill>
                <a:latin typeface="Aptos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9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24531"/>
                </a:solidFill>
                <a:latin typeface="Aptos"/>
              </a:rPr>
              <a:t>What is this project?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14984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2D362F"/>
                </a:solidFill>
                <a:latin typeface="Aptos"/>
              </a:rPr>
              <a:t>We made a model that looks at a plant-leaf photo and predicts which leaf category it belongs 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54680"/>
            <a:ext cx="33375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F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364992"/>
            <a:ext cx="4114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498452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337560"/>
            <a:ext cx="24231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24531"/>
                </a:solidFill>
                <a:latin typeface="Aptos"/>
              </a:rPr>
              <a:t>Upload a leaf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977639"/>
            <a:ext cx="28346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646E65"/>
                </a:solidFill>
                <a:latin typeface="Aptos"/>
              </a:rPr>
              <a:t>Give the model a picture.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3154680"/>
            <a:ext cx="33375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F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8888" y="3364992"/>
            <a:ext cx="4114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498452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337560"/>
            <a:ext cx="24231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24531"/>
                </a:solidFill>
                <a:latin typeface="Aptos"/>
              </a:rPr>
              <a:t>AI checks the photo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3977639"/>
            <a:ext cx="28346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646E65"/>
                </a:solidFill>
                <a:latin typeface="Aptos"/>
              </a:rPr>
              <a:t>It looks for patterns in the leaf.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3154680"/>
            <a:ext cx="33375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F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3364992"/>
            <a:ext cx="41148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498452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337560"/>
            <a:ext cx="24231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24531"/>
                </a:solidFill>
                <a:latin typeface="Aptos"/>
              </a:rPr>
              <a:t>See the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977639"/>
            <a:ext cx="28346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646E65"/>
                </a:solidFill>
                <a:latin typeface="Aptos"/>
              </a:rPr>
              <a:t>It predicts one of 15 categories.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94960"/>
            <a:ext cx="100584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498452"/>
                </a:solidFill>
                <a:latin typeface="Aptos"/>
              </a:rPr>
              <a:t>It can classify 15 categories of pepper, potato and tomato leaves.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6E65"/>
                </a:solidFill>
                <a:latin typeface="Aptos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9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24531"/>
                </a:solidFill>
                <a:latin typeface="Aptos"/>
              </a:rPr>
              <a:t>What did we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4241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646E65"/>
                </a:solidFill>
                <a:latin typeface="Aptos"/>
              </a:rPr>
              <a:t>Five simple steps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1819656"/>
            <a:ext cx="502920" cy="502920"/>
          </a:xfrm>
          <a:prstGeom prst="ellipse">
            <a:avLst/>
          </a:prstGeom>
          <a:solidFill>
            <a:srgbClr val="49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19656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783080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24531"/>
                </a:solidFill>
                <a:latin typeface="Aptos"/>
              </a:rPr>
              <a:t>Got the pictures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783080"/>
            <a:ext cx="66751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D362F"/>
                </a:solidFill>
                <a:latin typeface="Aptos"/>
              </a:rPr>
              <a:t>We used a dataset of plant-leaf photos.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660904"/>
            <a:ext cx="502920" cy="502920"/>
          </a:xfrm>
          <a:prstGeom prst="ellipse">
            <a:avLst/>
          </a:prstGeom>
          <a:solidFill>
            <a:srgbClr val="49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60904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624328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24531"/>
                </a:solidFill>
                <a:latin typeface="Aptos"/>
              </a:rPr>
              <a:t>Prepared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624328"/>
            <a:ext cx="66751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D362F"/>
                </a:solidFill>
                <a:latin typeface="Aptos"/>
              </a:rPr>
              <a:t>We made every image the same size.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502152"/>
            <a:ext cx="502920" cy="502920"/>
          </a:xfrm>
          <a:prstGeom prst="ellipse">
            <a:avLst/>
          </a:prstGeom>
          <a:solidFill>
            <a:srgbClr val="49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02152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465576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24531"/>
                </a:solidFill>
                <a:latin typeface="Aptos"/>
              </a:rPr>
              <a:t>Built the CNN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465576"/>
            <a:ext cx="66751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D362F"/>
                </a:solidFill>
                <a:latin typeface="Aptos"/>
              </a:rPr>
              <a:t>We made an AI model to learn leaf patterns.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4343400"/>
            <a:ext cx="502920" cy="502920"/>
          </a:xfrm>
          <a:prstGeom prst="ellipse">
            <a:avLst/>
          </a:prstGeom>
          <a:solidFill>
            <a:srgbClr val="49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43400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306824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24531"/>
                </a:solidFill>
                <a:latin typeface="Aptos"/>
              </a:rPr>
              <a:t>Trained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4306824"/>
            <a:ext cx="66751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D362F"/>
                </a:solidFill>
                <a:latin typeface="Aptos"/>
              </a:rPr>
              <a:t>We let it learn from the labeled pictures in Colab.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" y="5184648"/>
            <a:ext cx="502920" cy="502920"/>
          </a:xfrm>
          <a:prstGeom prst="ellipse">
            <a:avLst/>
          </a:prstGeom>
          <a:solidFill>
            <a:srgbClr val="49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184648"/>
            <a:ext cx="50292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148072"/>
            <a:ext cx="27432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224531"/>
                </a:solidFill>
                <a:latin typeface="Aptos"/>
              </a:rPr>
              <a:t>Tested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5148072"/>
            <a:ext cx="667512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D362F"/>
                </a:solidFill>
                <a:latin typeface="Aptos"/>
              </a:rPr>
              <a:t>We uploaded new pictures to see its predictions.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685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6E65"/>
                </a:solidFill>
                <a:latin typeface="Aptos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EBF8EF"/>
                </a:solidFill>
                <a:latin typeface="Aptos"/>
              </a:defRPr>
            </a:pPr>
            <a:r>
              <a:t>Our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B3DCC0"/>
                </a:solidFill>
                <a:latin typeface="Aptos"/>
              </a:defRPr>
            </a:pPr>
            <a:r>
              <a:t>The model was tested on validation images in Google Colab.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2743200" cy="3337560"/>
          </a:xfrm>
          <a:prstGeom prst="roundRect">
            <a:avLst/>
          </a:prstGeom>
          <a:solidFill>
            <a:srgbClr val="1E412F"/>
          </a:solidFill>
          <a:ln>
            <a:solidFill>
              <a:srgbClr val="5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22860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90.66%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28600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700" b="1">
                <a:solidFill>
                  <a:srgbClr val="CAE8D3"/>
                </a:solidFill>
                <a:latin typeface="Aptos"/>
              </a:defRPr>
            </a:pPr>
            <a:r>
              <a:t>Validation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2286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500" b="0">
                <a:solidFill>
                  <a:srgbClr val="CAE8D3"/>
                </a:solidFill>
                <a:latin typeface="Aptos"/>
              </a:defRPr>
            </a:pPr>
            <a:r>
              <a:t>Validation loss: 0.2907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691640"/>
            <a:ext cx="7635240" cy="2331720"/>
          </a:xfrm>
          <a:prstGeom prst="roundRect">
            <a:avLst/>
          </a:prstGeom>
          <a:solidFill>
            <a:srgbClr val="F5F7F5"/>
          </a:solidFill>
          <a:ln>
            <a:solidFill>
              <a:srgbClr val="5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780" y="1831079"/>
            <a:ext cx="7315200" cy="20528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40480" y="4096512"/>
            <a:ext cx="7543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300" b="0">
                <a:solidFill>
                  <a:srgbClr val="CAE8D3"/>
                </a:solidFill>
                <a:latin typeface="Aptos"/>
              </a:defRPr>
            </a:pPr>
            <a:r>
              <a:t>Actual output from my Colab notebook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60"/>
            <a:ext cx="10789920" cy="749808"/>
          </a:xfrm>
          <a:prstGeom prst="roundRect">
            <a:avLst/>
          </a:prstGeom>
          <a:solidFill>
            <a:srgbClr val="1E412F"/>
          </a:solidFill>
          <a:ln>
            <a:solidFill>
              <a:srgbClr val="5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321808"/>
            <a:ext cx="1033272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600" b="0">
                <a:solidFill>
                  <a:srgbClr val="EBF8EF"/>
                </a:solidFill>
                <a:latin typeface="Aptos"/>
              </a:defRPr>
            </a:pPr>
            <a:r>
              <a:t>This means the model predicted the correct category for about 91 out of every 100 validation images.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0">
                <a:solidFill>
                  <a:srgbClr val="B3DCC0"/>
                </a:solidFill>
                <a:latin typeface="Aptos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45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731520"/>
            <a:ext cx="1024128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Aptos"/>
              </a:rPr>
              <a:t>What did we learn?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996696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E2ECE0"/>
                </a:solidFill>
                <a:latin typeface="Aptos"/>
              </a:rPr>
              <a:t>We learned how to prepare images, train a CNN, and test its predictions.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3090672"/>
            <a:ext cx="146304" cy="146304"/>
          </a:xfrm>
          <a:prstGeom prst="ellipse">
            <a:avLst/>
          </a:prstGeom>
          <a:solidFill>
            <a:srgbClr val="E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2971800"/>
            <a:ext cx="95097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The model predicts 15 plant-leaf categories.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3776472"/>
            <a:ext cx="146304" cy="146304"/>
          </a:xfrm>
          <a:prstGeom prst="ellipse">
            <a:avLst/>
          </a:prstGeom>
          <a:solidFill>
            <a:srgbClr val="E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3657600"/>
            <a:ext cx="95097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It reached 90.66% validation accuracy.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4462272"/>
            <a:ext cx="146304" cy="146304"/>
          </a:xfrm>
          <a:prstGeom prst="ellipse">
            <a:avLst/>
          </a:prstGeom>
          <a:solidFill>
            <a:srgbClr val="E0B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4343400"/>
            <a:ext cx="950976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ptos"/>
              </a:rPr>
              <a:t>The image checker is a first step and can be improved.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23560"/>
            <a:ext cx="731520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E0BF63"/>
                </a:solidFill>
                <a:latin typeface="Aptos"/>
              </a:rPr>
              <a:t>Thank you!  Any 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CDDDCC"/>
                </a:solidFill>
                <a:latin typeface="Aptos"/>
              </a:rPr>
              <a:t>5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3200" b="1">
                <a:solidFill>
                  <a:srgbClr val="EBF8EF"/>
                </a:solidFill>
                <a:latin typeface="Aptos"/>
              </a:defRPr>
            </a:pPr>
            <a:r>
              <a:t>What is CNN?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2100" b="1">
                <a:solidFill>
                  <a:srgbClr val="B3DCC0"/>
                </a:solidFill>
                <a:latin typeface="Aptos"/>
              </a:defRPr>
            </a:pPr>
            <a:r>
              <a:t>CNN stands for Convolutional Neural Network.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3154680" cy="2011680"/>
          </a:xfrm>
          <a:prstGeom prst="roundRect">
            <a:avLst/>
          </a:prstGeom>
          <a:solidFill>
            <a:srgbClr val="1E412F"/>
          </a:solidFill>
          <a:ln>
            <a:solidFill>
              <a:srgbClr val="5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633472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1. Looks at the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2788920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0">
                <a:solidFill>
                  <a:srgbClr val="CAE8D3"/>
                </a:solidFill>
                <a:latin typeface="Aptos"/>
              </a:defRPr>
            </a:pPr>
            <a:r>
              <a:t>It checks small parts of a picture.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331720"/>
            <a:ext cx="3154680" cy="2011680"/>
          </a:xfrm>
          <a:prstGeom prst="roundRect">
            <a:avLst/>
          </a:prstGeom>
          <a:solidFill>
            <a:srgbClr val="1E412F"/>
          </a:solidFill>
          <a:ln>
            <a:solidFill>
              <a:srgbClr val="5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2633472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2. Learns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246120"/>
            <a:ext cx="2788920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0">
                <a:solidFill>
                  <a:srgbClr val="CAE8D3"/>
                </a:solidFill>
                <a:latin typeface="Aptos"/>
              </a:defRPr>
            </a:pPr>
            <a:r>
              <a:t>It learns shapes, colours, and leaf marks.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331720"/>
            <a:ext cx="3154680" cy="2011680"/>
          </a:xfrm>
          <a:prstGeom prst="roundRect">
            <a:avLst/>
          </a:prstGeom>
          <a:solidFill>
            <a:srgbClr val="1E412F"/>
          </a:solidFill>
          <a:ln>
            <a:solidFill>
              <a:srgbClr val="5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2633472"/>
            <a:ext cx="28346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3. Makes a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19" y="3246120"/>
            <a:ext cx="2788920" cy="7498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500" b="0">
                <a:solidFill>
                  <a:srgbClr val="CAE8D3"/>
                </a:solidFill>
                <a:latin typeface="Aptos"/>
              </a:defRPr>
            </a:pPr>
            <a:r>
              <a:t>It predicts which of the 15 categories the leaf may belong 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83480"/>
            <a:ext cx="1060704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900" b="1">
                <a:solidFill>
                  <a:srgbClr val="EBF8EF"/>
                </a:solidFill>
                <a:latin typeface="Aptos"/>
              </a:defRPr>
            </a:pPr>
            <a:r>
              <a:t>In simple words: a CNN is an AI model that learns from images.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